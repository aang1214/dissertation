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accidents</c:v>
                </c:pt>
              </c:strCache>
            </c:strRef>
          </c:tx>
          <c:spPr>
            <a:solidFill>
              <a:srgbClr val="8FA9D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61B-498F-813F-99E3D8DDA496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61B-498F-813F-99E3D8DDA496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61B-498F-813F-99E3D8DDA49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With injured
victims</c:v>
                </c:pt>
                <c:pt idx="1">
                  <c:v>Without
victims</c:v>
                </c:pt>
                <c:pt idx="2">
                  <c:v>With dead
victims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71.7</c:v>
                </c:pt>
                <c:pt idx="1">
                  <c:v>21.5</c:v>
                </c:pt>
                <c:pt idx="2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61B-498F-813F-99E3D8DDA4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E" b="0" i="0" u="none" strike="noStrike">
                    <a:solidFill>
                      <a:srgbClr val="000000"/>
                    </a:solidFill>
                    <a:latin typeface="Arial"/>
                  </a:rPr>
                  <a:t>% of accidents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macro-F1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0A1-4AA3-8863-02630C8C0997}"/>
              </c:ext>
            </c:extLst>
          </c:dPt>
          <c:dPt>
            <c:idx val="1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A1-4AA3-8863-02630C8C0997}"/>
              </c:ext>
            </c:extLst>
          </c:dPt>
          <c:dPt>
            <c:idx val="2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A1-4AA3-8863-02630C8C0997}"/>
              </c:ext>
            </c:extLst>
          </c:dPt>
          <c:dPt>
            <c:idx val="3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0A1-4AA3-8863-02630C8C0997}"/>
              </c:ext>
            </c:extLst>
          </c:dPt>
          <c:dPt>
            <c:idx val="4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0A1-4AA3-8863-02630C8C0997}"/>
              </c:ext>
            </c:extLst>
          </c:dPt>
          <c:dPt>
            <c:idx val="5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0A1-4AA3-8863-02630C8C0997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DecisionTree</c:v>
                </c:pt>
                <c:pt idx="1">
                  <c:v>CatBoost</c:v>
                </c:pt>
                <c:pt idx="2">
                  <c:v>XGBoost</c:v>
                </c:pt>
                <c:pt idx="3">
                  <c:v>RandomForest</c:v>
                </c:pt>
                <c:pt idx="4">
                  <c:v>LogisticReg.</c:v>
                </c:pt>
                <c:pt idx="5">
                  <c:v>LightGBM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0.43530000000000002</c:v>
                </c:pt>
                <c:pt idx="1">
                  <c:v>0.41880000000000001</c:v>
                </c:pt>
                <c:pt idx="2">
                  <c:v>0.41589999999999999</c:v>
                </c:pt>
                <c:pt idx="3">
                  <c:v>0.40629999999999999</c:v>
                </c:pt>
                <c:pt idx="4">
                  <c:v>0.40429999999999999</c:v>
                </c:pt>
                <c:pt idx="5">
                  <c:v>0.39850000000000002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0A1-4AA3-8863-02630C8C09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b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E" b="0" i="0" u="none" strike="noStrike">
                    <a:solidFill>
                      <a:srgbClr val="000000"/>
                    </a:solidFill>
                    <a:latin typeface="Arial"/>
                  </a:rPr>
                  <a:t>5-fold CV macro-F1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macro-F1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3A2-42CF-B9F3-F3DEBED8A0F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3A2-42CF-B9F3-F3DEBED8A0F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3A2-42CF-B9F3-F3DEBED8A0FB}"/>
              </c:ext>
            </c:extLst>
          </c:dPt>
          <c:dPt>
            <c:idx val="3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A2-42CF-B9F3-F3DEBED8A0FB}"/>
              </c:ext>
            </c:extLst>
          </c:dPt>
          <c:dPt>
            <c:idx val="4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3A2-42CF-B9F3-F3DEBED8A0FB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CatBoost+
RandomOver</c:v>
                </c:pt>
                <c:pt idx="1">
                  <c:v>XGBoost+
RandomOver</c:v>
                </c:pt>
                <c:pt idx="2">
                  <c:v>XGBoost+
ClassWeight</c:v>
                </c:pt>
                <c:pt idx="3">
                  <c:v>SMOTE
(best)</c:v>
                </c:pt>
                <c:pt idx="4">
                  <c:v>ADASYN
(best)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0.48249999999999998</c:v>
                </c:pt>
                <c:pt idx="1">
                  <c:v>0.48110000000000003</c:v>
                </c:pt>
                <c:pt idx="2">
                  <c:v>0.48039999999999999</c:v>
                </c:pt>
                <c:pt idx="3">
                  <c:v>0.46</c:v>
                </c:pt>
                <c:pt idx="4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3A2-42CF-B9F3-F3DEBED8A0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5000000000000004"/>
          <c:min val="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E" b="0" i="0" u="none" strike="noStrike">
                    <a:solidFill>
                      <a:srgbClr val="000000"/>
                    </a:solidFill>
                    <a:latin typeface="Arial"/>
                  </a:rPr>
                  <a:t>5-fold CV macro-F1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 value|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F3-473C-B6F6-D7DB399FB7B6}"/>
              </c:ext>
            </c:extLst>
          </c:dPt>
          <c:dPt>
            <c:idx val="1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F3-473C-B6F6-D7DB399FB7B6}"/>
              </c:ext>
            </c:extLst>
          </c:dPt>
          <c:dPt>
            <c:idx val="2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F3-473C-B6F6-D7DB399FB7B6}"/>
              </c:ext>
            </c:extLst>
          </c:dPt>
          <c:dPt>
            <c:idx val="3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F3-473C-B6F6-D7DB399FB7B6}"/>
              </c:ext>
            </c:extLst>
          </c:dPt>
          <c:dPt>
            <c:idx val="4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4F3-473C-B6F6-D7DB399FB7B6}"/>
              </c:ext>
            </c:extLst>
          </c:dPt>
          <c:dPt>
            <c:idx val="5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4F3-473C-B6F6-D7DB399FB7B6}"/>
              </c:ext>
            </c:extLst>
          </c:dPt>
          <c:dPt>
            <c:idx val="6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4F3-473C-B6F6-D7DB399FB7B6}"/>
              </c:ext>
            </c:extLst>
          </c:dPt>
          <c:dPt>
            <c:idx val="7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4F3-473C-B6F6-D7DB399FB7B6}"/>
              </c:ext>
            </c:extLst>
          </c:dPt>
          <c:dPt>
            <c:idx val="8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4F3-473C-B6F6-D7DB399FB7B6}"/>
              </c:ext>
            </c:extLst>
          </c:dPt>
          <c:dPt>
            <c:idx val="9"/>
            <c:invertIfNegative val="0"/>
            <c:bubble3D val="0"/>
            <c:spPr>
              <a:solidFill>
                <a:srgbClr val="8FA9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4F3-473C-B6F6-D7DB399FB7B6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Accident_Type</c:v>
                </c:pt>
                <c:pt idx="1">
                  <c:v>Latitude</c:v>
                </c:pt>
                <c:pt idx="2">
                  <c:v>Cause_Group</c:v>
                </c:pt>
                <c:pt idx="3">
                  <c:v>Police_Station</c:v>
                </c:pt>
                <c:pt idx="4">
                  <c:v>Longitude</c:v>
                </c:pt>
                <c:pt idx="5">
                  <c:v>Road_Km</c:v>
                </c:pt>
                <c:pt idx="6">
                  <c:v>Hour</c:v>
                </c:pt>
                <c:pt idx="7">
                  <c:v>Road_ID</c:v>
                </c:pt>
                <c:pt idx="8">
                  <c:v>Road_Delineation</c:v>
                </c:pt>
                <c:pt idx="9">
                  <c:v>Day_Phase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0.45300000000000001</c:v>
                </c:pt>
                <c:pt idx="1">
                  <c:v>0.16900000000000001</c:v>
                </c:pt>
                <c:pt idx="2">
                  <c:v>0.14899999999999999</c:v>
                </c:pt>
                <c:pt idx="3">
                  <c:v>0.106</c:v>
                </c:pt>
                <c:pt idx="4">
                  <c:v>0.104</c:v>
                </c:pt>
                <c:pt idx="5">
                  <c:v>9.9000000000000005E-2</c:v>
                </c:pt>
                <c:pt idx="6">
                  <c:v>8.3000000000000004E-2</c:v>
                </c:pt>
                <c:pt idx="7">
                  <c:v>7.1999999999999995E-2</c:v>
                </c:pt>
                <c:pt idx="8">
                  <c:v>7.0000000000000007E-2</c:v>
                </c:pt>
                <c:pt idx="9">
                  <c:v>6.8000000000000005E-2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4F3-473C-B6F6-D7DB399FB7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b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E" b="0" i="0" u="none" strike="noStrike">
                    <a:solidFill>
                      <a:srgbClr val="000000"/>
                    </a:solidFill>
                    <a:latin typeface="Arial"/>
                  </a:rPr>
                  <a:t>Mean |SHAP value| (global)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10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ang1214/Dissertatio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8FA9DE">
              <a:alpha val="18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3840480" cy="3840480"/>
          </a:xfrm>
          <a:prstGeom prst="ellipse">
            <a:avLst/>
          </a:prstGeom>
          <a:solidFill>
            <a:srgbClr val="8FA9DE">
              <a:alpha val="13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822960" y="1522772"/>
            <a:ext cx="10515600" cy="1697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TRAFFIC ACCIDENT SEVERITY IN BRAZIL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Multiclass Machine Learning Approach with Imbalance Handling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3794760"/>
            <a:ext cx="2011680" cy="0"/>
          </a:xfrm>
          <a:prstGeom prst="line">
            <a:avLst/>
          </a:prstGeom>
          <a:noFill/>
          <a:ln w="25400">
            <a:solidFill>
              <a:srgbClr val="8FA9D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822960" y="4030735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Marek Martinak</a:t>
            </a:r>
            <a:endParaRPr lang="en-US" sz="2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D00250465</a:t>
            </a:r>
            <a:endParaRPr lang="en-US" sz="2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Analytics — Dundalk Institute of Technology</a:t>
            </a:r>
            <a:endParaRPr lang="en-US" sz="2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Samuel Moore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4470" y="661181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94470" y="1621301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919090" y="1941341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33,000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77350" y="2764301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year 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roads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60630" y="1621301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4460630" y="1941341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643510" y="2764301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Brazil's GDP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(~R$220 billion/yr)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26790" y="1621301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8026790" y="199057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10th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09670" y="2764301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nationally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4470" y="4044461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has focused mainly on well-developed countries. Low- and middle-income countries, despite bearing a disproportionate share of the burden, remain understudied.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94360" y="165506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94360" y="16550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17320" y="1344168"/>
            <a:ext cx="9966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1691640" y="1344168"/>
            <a:ext cx="9464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comes to predicting the multiclass severity of accidents using macro-F1 and per-class metrics, can tree-based classifiers (Decision Tree, Random Forest, </a:t>
            </a:r>
            <a:r>
              <a:rPr lang="en-US" sz="20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20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outperform a Logistic Regression baseline?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1318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594360" y="31318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17320" y="2852928"/>
            <a:ext cx="9966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1691640" y="2852928"/>
            <a:ext cx="9464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handling class imbalance affect the performance of these models, and how do the main methods of class imbalance handling compare?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4360" y="460857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594360" y="46085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17320" y="4361688"/>
            <a:ext cx="9966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1691640" y="4361688"/>
            <a:ext cx="9464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are most important in predicting traffic accident severity?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Dataset, Same Three Blind Spots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PRF studies — Scholz et al. (2024) and Gabardo et al. (2026) — share three limitations this work addresses.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5B678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Work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172200" y="150876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6172200" y="15087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Study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0749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severity classification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(lethal / non-lethal)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074920" cy="1188720"/>
          </a:xfrm>
          <a:prstGeom prst="roundRect">
            <a:avLst>
              <a:gd name="adj" fmla="val 4615"/>
            </a:avLst>
          </a:prstGeom>
          <a:solidFill>
            <a:srgbClr val="EAF0FC"/>
          </a:solidFill>
          <a:ln w="12700">
            <a:solidFill>
              <a:srgbClr val="8FA9D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Three-class: without / injured /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victims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0749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ignored, or only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technique (SMOTE)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172200" y="3337560"/>
            <a:ext cx="5074920" cy="1188720"/>
          </a:xfrm>
          <a:prstGeom prst="roundRect">
            <a:avLst>
              <a:gd name="adj" fmla="val 4615"/>
            </a:avLst>
          </a:prstGeom>
          <a:solidFill>
            <a:srgbClr val="EAF0FC"/>
          </a:solidFill>
          <a:ln w="12700">
            <a:solidFill>
              <a:srgbClr val="8FA9D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6400800" y="333756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imbalance methods compared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across 3 classifiers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0749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 analysis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national level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172200" y="4709160"/>
            <a:ext cx="5074920" cy="1188720"/>
          </a:xfrm>
          <a:prstGeom prst="roundRect">
            <a:avLst>
              <a:gd name="adj" fmla="val 4615"/>
            </a:avLst>
          </a:prstGeom>
          <a:solidFill>
            <a:srgbClr val="EAF0FC"/>
          </a:solidFill>
          <a:ln w="12700">
            <a:solidFill>
              <a:srgbClr val="8FA9DE"/>
            </a:solidFill>
            <a:prstDash val="solid"/>
          </a:ln>
        </p:spPr>
        <p:txBody>
          <a:bodyPr/>
          <a:lstStyle/>
          <a:p>
            <a:endParaRPr lang="en-IE" dirty="0"/>
          </a:p>
        </p:txBody>
      </p:sp>
      <p:sp>
        <p:nvSpPr>
          <p:cNvPr id="19" name="Text 17"/>
          <p:cNvSpPr/>
          <p:nvPr/>
        </p:nvSpPr>
        <p:spPr>
          <a:xfrm>
            <a:off x="6400800" y="470916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TreeSHAP —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+ per-class + dependence plots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463,152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3246120" y="15087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337560" y="2148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5943600" y="15087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2017–2023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035040" y="2148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years, all of Brazil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64108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8641080" y="15087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PRF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41080" y="21259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Federal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Police (Kaggle)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61276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Target: Victims_Condition — heavily imbalanced</a:t>
            </a:r>
            <a:endParaRPr lang="en-US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3474720"/>
          <a:ext cx="54864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355080" y="36576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model predicting the majority class every time would look 71.7% accurate, while being useless for the 6.8% of cases that matter most.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Six-Phase Methodology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5146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48640" y="21305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&amp;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module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514600" y="3383280"/>
            <a:ext cx="308610" cy="0"/>
          </a:xfrm>
          <a:prstGeom prst="line">
            <a:avLst/>
          </a:prstGeom>
          <a:noFill/>
          <a:ln w="31750">
            <a:solidFill>
              <a:srgbClr val="8FA9DE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7" name="Shape 5"/>
          <p:cNvSpPr/>
          <p:nvPr/>
        </p:nvSpPr>
        <p:spPr>
          <a:xfrm>
            <a:off x="2823210" y="25146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2823210" y="21305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14650" y="251460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6-classifier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89170" y="3383280"/>
            <a:ext cx="308610" cy="0"/>
          </a:xfrm>
          <a:prstGeom prst="line">
            <a:avLst/>
          </a:prstGeom>
          <a:noFill/>
          <a:ln w="31750">
            <a:solidFill>
              <a:srgbClr val="8FA9DE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11" name="Shape 9"/>
          <p:cNvSpPr/>
          <p:nvPr/>
        </p:nvSpPr>
        <p:spPr>
          <a:xfrm>
            <a:off x="5097780" y="25146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5097780" y="21305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89220" y="251460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imbalance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× top 3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063740" y="3383280"/>
            <a:ext cx="308610" cy="0"/>
          </a:xfrm>
          <a:prstGeom prst="line">
            <a:avLst/>
          </a:prstGeom>
          <a:noFill/>
          <a:ln w="31750">
            <a:solidFill>
              <a:srgbClr val="8FA9DE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7372350" y="25146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7372350" y="21305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63790" y="251460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9338310" y="3383280"/>
            <a:ext cx="308610" cy="0"/>
          </a:xfrm>
          <a:prstGeom prst="line">
            <a:avLst/>
          </a:prstGeom>
          <a:noFill/>
          <a:ln w="31750">
            <a:solidFill>
              <a:srgbClr val="8FA9DE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9646920" y="25146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9646920" y="21305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38360" y="251460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8640" y="118872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sets the bar: a DummyClassifier baseline of macro-F1 = 0.28 that every model must clear. Each phase narrows the field and feeds the next.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EAF0FC"/>
          </a:solidFill>
          <a:ln w="12700">
            <a:solidFill>
              <a:srgbClr val="8FA9D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/>
          <p:nvPr/>
        </p:nvSpPr>
        <p:spPr>
          <a:xfrm>
            <a:off x="777240" y="46177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— treats every class equally regardless of size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461772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EAF0FC"/>
          </a:solidFill>
          <a:ln w="12700">
            <a:solidFill>
              <a:srgbClr val="8FA9D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/>
          <p:nvPr/>
        </p:nvSpPr>
        <p:spPr>
          <a:xfrm>
            <a:off x="6492240" y="46177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metric: 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(Matthews Correlation Coefficient) — recommended for imbalanced multiclass data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The Baseline Surprise</a:t>
            </a:r>
            <a:endParaRPr lang="en-US" sz="40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476365130"/>
              </p:ext>
            </p:extLst>
          </p:nvPr>
        </p:nvGraphicFramePr>
        <p:xfrm>
          <a:off x="158262" y="1472418"/>
          <a:ext cx="6333978" cy="4516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6476254" y="1731550"/>
            <a:ext cx="5182346" cy="1606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DecisionTree ranked first (0.4353) — ahead of every gradient booster. 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contradicts the literature (Grinsztajn 2022; Shwartz-Ziv &amp; Armon 2022), which predicts boosters should dominate tabular data.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76254" y="2970041"/>
            <a:ext cx="5182346" cy="2710141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3"/>
          <p:cNvSpPr/>
          <p:nvPr/>
        </p:nvSpPr>
        <p:spPr>
          <a:xfrm>
            <a:off x="6772155" y="3136809"/>
            <a:ext cx="4606529" cy="401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sanity checks performed: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77751" y="3505114"/>
            <a:ext cx="4606529" cy="1104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Full-train → sealed test set:  </a:t>
            </a:r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0.4397 (no drop)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capped at 20, re-CV:  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0.4280 (nearly identical)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77751" y="4743211"/>
            <a:ext cx="4606529" cy="8030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not overfitting — the categorical features carry a strong enough signal for a single tree to capture it.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Simple Beats Sophisticated</a:t>
            </a:r>
            <a:endParaRPr lang="en-US" sz="40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264315308"/>
              </p:ext>
            </p:extLst>
          </p:nvPr>
        </p:nvGraphicFramePr>
        <p:xfrm>
          <a:off x="146538" y="1481797"/>
          <a:ext cx="6437142" cy="41992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6520812" y="1487441"/>
            <a:ext cx="5092068" cy="14648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combinations tested (3 classifiers × 7 imbalance methods). The methods most recommended in the literature (SMOTE, ADASYN) underperformed simple oversampling and class weighting by around 0.02 macro-F1.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520812" y="2952280"/>
            <a:ext cx="5092068" cy="2783195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 dirty="0"/>
          </a:p>
        </p:txBody>
      </p:sp>
      <p:sp>
        <p:nvSpPr>
          <p:cNvPr id="6" name="Text 3"/>
          <p:cNvSpPr/>
          <p:nvPr/>
        </p:nvSpPr>
        <p:spPr>
          <a:xfrm>
            <a:off x="6822953" y="3096609"/>
            <a:ext cx="1254247" cy="341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Why?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822953" y="3436170"/>
            <a:ext cx="4515607" cy="2050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one-hot encoding, SMOTE interpolates between rows — creating impossible records (e.g. 60% Northeast + 40% Southeast, which can't happen in reality).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RandomOversampler just duplicates real rows, so it never creates nonsense.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Tuning Confirms the Winner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39" y="13716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+ RandomOver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0.5188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59" y="3237328"/>
            <a:ext cx="48041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macro-F1 — best of 50 Optuna trials (trial 43)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59" y="37947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ran 150 trials total (3 combinations × 50) — about 10 hours of Bayesian optimisation, overtaking CatBoost + RandomOver, which had led after Phase 3.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035040" y="137160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 over Phase 3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0.4811  →  0.5188</a:t>
            </a:r>
            <a:endParaRPr lang="en-US" sz="3600" dirty="0"/>
          </a:p>
          <a:p>
            <a:pPr marL="0" indent="0">
              <a:buNone/>
            </a:pPr>
            <a:r>
              <a:rPr lang="en-US" sz="2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+0.038 macro-F1 from tuning alone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035040" y="3429000"/>
            <a:ext cx="5577840" cy="1874520"/>
          </a:xfrm>
          <a:prstGeom prst="roundRect">
            <a:avLst>
              <a:gd name="adj" fmla="val 3902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630936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 flagged early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09360" y="39776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saturated at its upper bound (10) across all three Optuna studies — the search range was possibly too narrow. Carried forward to Future Work.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Test-Set Results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Macro-F1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5B6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529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92437" y="2436055"/>
            <a:ext cx="695178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3291840" y="19659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28529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6217920" y="1508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Fatal-Class Recall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195658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5B6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22.4%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035040" y="282409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82819" y="2416125"/>
            <a:ext cx="695178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9128760" y="1984131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50.1%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28760" y="2816645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doubled: 1,403 of 6,269 fatal cases caught by the Phase 2 baseline vs. 3,141 of 6,269 by the final tuned model.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3329" y="4415732"/>
            <a:ext cx="11064240" cy="1399032"/>
          </a:xfrm>
          <a:prstGeom prst="roundRect">
            <a:avLst>
              <a:gd name="adj" fmla="val 4571"/>
            </a:avLst>
          </a:prstGeom>
          <a:solidFill>
            <a:srgbClr val="EAF0FC"/>
          </a:solidFill>
          <a:ln w="12700">
            <a:solidFill>
              <a:srgbClr val="8FA9DE"/>
            </a:solidFill>
            <a:prstDash val="solid"/>
          </a:ln>
        </p:spPr>
        <p:txBody>
          <a:bodyPr/>
          <a:lstStyle/>
          <a:p>
            <a:endParaRPr lang="en-IE" dirty="0"/>
          </a:p>
        </p:txBody>
      </p:sp>
      <p:sp>
        <p:nvSpPr>
          <p:cNvPr id="19" name="Text 17"/>
          <p:cNvSpPr/>
          <p:nvPr/>
        </p:nvSpPr>
        <p:spPr>
          <a:xfrm>
            <a:off x="858129" y="4297680"/>
            <a:ext cx="10424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trade-off:  </a:t>
            </a: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injured cases get misclassified as fatal. In a safety context, a false alarm on a fatal case is a far smaller cost than missing one — and CV (0.5188) vs. test (0.5194) macro-F1 stayed within 0.0006, showing no overfitting.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Severity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64008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7086600" y="1227522"/>
            <a:ext cx="4572000" cy="12870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Accident_Type dominates — 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3× the second-ranked feature (Latitude). Police_Station ranks 4th as a geographic proxy, not a causal factor.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086600" y="265176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3"/>
          <p:cNvSpPr/>
          <p:nvPr/>
        </p:nvSpPr>
        <p:spPr>
          <a:xfrm>
            <a:off x="7223760" y="2788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Day_Phase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223760" y="3118104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for fatal accidents — but drops to 14th for injured. Time of day matters specifically for whether a crash becomes fatal.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086600" y="434340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6"/>
          <p:cNvSpPr/>
          <p:nvPr/>
        </p:nvSpPr>
        <p:spPr>
          <a:xfrm>
            <a:off x="7223760" y="4477043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Weather_Condition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23760" y="4794738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reaches top 5 for the "without victims" class — suggesting drivers take more care in bad weather, rather than weather directly causing severe crashes.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904121"/>
            <a:ext cx="3520440" cy="3717094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548640" y="1476521"/>
            <a:ext cx="3520440" cy="502920"/>
          </a:xfrm>
          <a:prstGeom prst="roundRect">
            <a:avLst>
              <a:gd name="adj" fmla="val 14545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548640" y="1746503"/>
            <a:ext cx="3520440" cy="246888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8046720" y="1474117"/>
            <a:ext cx="3520440" cy="4147098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" name="Text 0"/>
          <p:cNvSpPr/>
          <p:nvPr/>
        </p:nvSpPr>
        <p:spPr>
          <a:xfrm>
            <a:off x="548640" y="596997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Contributions, Limitations &amp; Future 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046720" y="1474117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" name="Shape 3"/>
          <p:cNvSpPr/>
          <p:nvPr/>
        </p:nvSpPr>
        <p:spPr>
          <a:xfrm>
            <a:off x="8046720" y="1744099"/>
            <a:ext cx="3520440" cy="24688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548640" y="1476521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4840" y="2123576"/>
            <a:ext cx="3349283" cy="3257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002060"/>
                </a:solidFill>
              </a:rPr>
              <a:t>First multi-class severity study on the full national PRF dataset (not binary, not regional)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002060"/>
                </a:solidFill>
              </a:rPr>
              <a:t>Systematic comparison of 7 imbalance-handling methods across 3 classifiers (21 combinations)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002060"/>
                </a:solidFill>
              </a:rPr>
              <a:t>First country-level </a:t>
            </a:r>
            <a:r>
              <a:rPr lang="en-IE" sz="1600" dirty="0" err="1">
                <a:solidFill>
                  <a:srgbClr val="002060"/>
                </a:solidFill>
              </a:rPr>
              <a:t>TreeSHAP</a:t>
            </a:r>
            <a:r>
              <a:rPr lang="en-IE" sz="1600" dirty="0">
                <a:solidFill>
                  <a:srgbClr val="002060"/>
                </a:solidFill>
              </a:rPr>
              <a:t> explainability analysis on PRF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002060"/>
                </a:solidFill>
              </a:rPr>
              <a:t>Finding: simple resampling (</a:t>
            </a:r>
            <a:r>
              <a:rPr lang="en-IE" sz="1600" dirty="0" err="1">
                <a:solidFill>
                  <a:srgbClr val="002060"/>
                </a:solidFill>
              </a:rPr>
              <a:t>RandomOver</a:t>
            </a:r>
            <a:r>
              <a:rPr lang="en-IE" sz="1600" dirty="0">
                <a:solidFill>
                  <a:srgbClr val="002060"/>
                </a:solidFill>
              </a:rPr>
              <a:t>, </a:t>
            </a:r>
            <a:r>
              <a:rPr lang="en-IE" sz="1600" dirty="0" err="1">
                <a:solidFill>
                  <a:srgbClr val="002060"/>
                </a:solidFill>
              </a:rPr>
              <a:t>ClassWeight</a:t>
            </a:r>
            <a:r>
              <a:rPr lang="en-IE" sz="1600" dirty="0">
                <a:solidFill>
                  <a:srgbClr val="002060"/>
                </a:solidFill>
              </a:rPr>
              <a:t>) outperforms SMOTE/ADASYN on high-cardinality OHE data</a:t>
            </a:r>
          </a:p>
        </p:txBody>
      </p:sp>
      <p:sp>
        <p:nvSpPr>
          <p:cNvPr id="8" name="Shape 6"/>
          <p:cNvSpPr/>
          <p:nvPr/>
        </p:nvSpPr>
        <p:spPr>
          <a:xfrm>
            <a:off x="4297680" y="1476521"/>
            <a:ext cx="3520440" cy="4144694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4297680" y="1476521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Shape 8"/>
          <p:cNvSpPr/>
          <p:nvPr/>
        </p:nvSpPr>
        <p:spPr>
          <a:xfrm>
            <a:off x="4297680" y="1732553"/>
            <a:ext cx="3520440" cy="2468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4297680" y="1476521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123576"/>
            <a:ext cx="3063240" cy="3173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600" dirty="0" err="1">
                <a:solidFill>
                  <a:srgbClr val="002060"/>
                </a:solidFill>
              </a:rPr>
              <a:t>LightGBM</a:t>
            </a:r>
            <a:r>
              <a:rPr lang="en-IE" sz="1600" dirty="0">
                <a:solidFill>
                  <a:srgbClr val="002060"/>
                </a:solidFill>
              </a:rPr>
              <a:t> never tuned in Phase 4, its true potential is untested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600" dirty="0" err="1">
                <a:solidFill>
                  <a:srgbClr val="002060"/>
                </a:solidFill>
              </a:rPr>
              <a:t>max_depth</a:t>
            </a:r>
            <a:r>
              <a:rPr lang="en-IE" sz="1600" dirty="0">
                <a:solidFill>
                  <a:srgbClr val="002060"/>
                </a:solidFill>
              </a:rPr>
              <a:t> saturated at its upper bound (10) in every winning </a:t>
            </a:r>
            <a:r>
              <a:rPr lang="en-IE" sz="1600" dirty="0" err="1">
                <a:solidFill>
                  <a:srgbClr val="002060"/>
                </a:solidFill>
              </a:rPr>
              <a:t>Optuna</a:t>
            </a:r>
            <a:r>
              <a:rPr lang="en-IE" sz="1600" dirty="0">
                <a:solidFill>
                  <a:srgbClr val="002060"/>
                </a:solidFill>
              </a:rPr>
              <a:t> trial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600" dirty="0" err="1">
                <a:solidFill>
                  <a:srgbClr val="002060"/>
                </a:solidFill>
              </a:rPr>
              <a:t>Police_Station</a:t>
            </a:r>
            <a:r>
              <a:rPr lang="en-IE" sz="1600" dirty="0">
                <a:solidFill>
                  <a:srgbClr val="002060"/>
                </a:solidFill>
              </a:rPr>
              <a:t> ranks 4th in SHAP but is a geographic proxy, not a causal factor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002060"/>
                </a:solidFill>
              </a:rPr>
              <a:t>Standard SMOTE isn't built for one-hot categorical features (SMOTE-NC would be more appropriate)</a:t>
            </a:r>
          </a:p>
        </p:txBody>
      </p:sp>
      <p:sp>
        <p:nvSpPr>
          <p:cNvPr id="16" name="Text 14"/>
          <p:cNvSpPr/>
          <p:nvPr/>
        </p:nvSpPr>
        <p:spPr>
          <a:xfrm>
            <a:off x="8046720" y="1474117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123576"/>
            <a:ext cx="3063240" cy="3257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002060"/>
                </a:solidFill>
              </a:rPr>
              <a:t>Widen the </a:t>
            </a:r>
            <a:r>
              <a:rPr lang="en-IE" sz="1600" dirty="0" err="1">
                <a:solidFill>
                  <a:srgbClr val="002060"/>
                </a:solidFill>
              </a:rPr>
              <a:t>max_depth</a:t>
            </a:r>
            <a:r>
              <a:rPr lang="en-IE" sz="1600" dirty="0">
                <a:solidFill>
                  <a:srgbClr val="002060"/>
                </a:solidFill>
              </a:rPr>
              <a:t>/depth search range (10 → 15–20) and test SMOTE-NC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002060"/>
                </a:solidFill>
              </a:rPr>
              <a:t>Tune </a:t>
            </a:r>
            <a:r>
              <a:rPr lang="en-IE" sz="1600" dirty="0" err="1">
                <a:solidFill>
                  <a:srgbClr val="002060"/>
                </a:solidFill>
              </a:rPr>
              <a:t>LightGBM</a:t>
            </a:r>
            <a:r>
              <a:rPr lang="en-IE" sz="1600" dirty="0">
                <a:solidFill>
                  <a:srgbClr val="002060"/>
                </a:solidFill>
              </a:rPr>
              <a:t> to see if it changes the Phase 2 ranking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002060"/>
                </a:solidFill>
              </a:rPr>
              <a:t>Add </a:t>
            </a:r>
            <a:r>
              <a:rPr lang="en-IE" sz="1600" dirty="0" err="1">
                <a:solidFill>
                  <a:srgbClr val="002060"/>
                </a:solidFill>
              </a:rPr>
              <a:t>spatio</a:t>
            </a:r>
            <a:r>
              <a:rPr lang="en-IE" sz="1600" dirty="0">
                <a:solidFill>
                  <a:srgbClr val="002060"/>
                </a:solidFill>
              </a:rPr>
              <a:t>-temporal risk scoring (hour + road segment + historical pattern)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002060"/>
                </a:solidFill>
              </a:rPr>
              <a:t>Validate on 2024–2025 PRF data to test deployment readiness</a:t>
            </a:r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8FA9DE">
              <a:alpha val="18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3840480" cy="3840480"/>
          </a:xfrm>
          <a:prstGeom prst="ellipse">
            <a:avLst/>
          </a:prstGeom>
          <a:solidFill>
            <a:srgbClr val="8FA9DE">
              <a:alpha val="13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2011680" cy="0"/>
          </a:xfrm>
          <a:prstGeom prst="line">
            <a:avLst/>
          </a:prstGeom>
          <a:noFill/>
          <a:ln w="25400">
            <a:solidFill>
              <a:srgbClr val="8FA9D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822960" y="4160521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Marek Martinak</a:t>
            </a:r>
            <a:endParaRPr lang="en-US" sz="2000" dirty="0"/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https://github.com/Aang1214/Dissertation</a:t>
            </a:r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Analytics — Dundalk Institute of Technology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1098</Words>
  <Application>Microsoft Office PowerPoint</Application>
  <PresentationFormat>Widescreen</PresentationFormat>
  <Paragraphs>165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Marek Martinak</cp:lastModifiedBy>
  <cp:revision>5</cp:revision>
  <dcterms:created xsi:type="dcterms:W3CDTF">2026-09-01T14:15:28Z</dcterms:created>
  <dcterms:modified xsi:type="dcterms:W3CDTF">2026-09-05T14:28:34Z</dcterms:modified>
</cp:coreProperties>
</file>